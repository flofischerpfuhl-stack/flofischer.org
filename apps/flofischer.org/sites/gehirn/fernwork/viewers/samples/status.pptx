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Band"/>
          <p:cNvSpPr/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15803D"/>
          </a:solidFill>
          <a:ln>
            <a:noFill/>
          </a:ln>
        </p:spPr>
      </p:sp>
      <p:sp>
        <p:nvSpPr>
          <p:cNvPr id="12" name="Tag"/>
          <p:cNvSpPr/>
          <p:nvPr/>
        </p:nvSpPr>
        <p:spPr>
          <a:xfrm>
            <a:off x="762000" y="1962150"/>
            <a:ext cx="1219200" cy="32385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de-DE" sz="1200" b="1" dirty="0">
                <a:solidFill>
                  <a:srgbClr val="166534"/>
                </a:solidFill>
                <a:latin typeface="Calibri"/>
              </a:rPr>
              <a:t>STATUS Q3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762000" y="2400300"/>
            <a:ext cx="10668000" cy="952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de-DE" sz="5000" b="1" dirty="0">
                <a:solidFill>
                  <a:srgbClr val="111827"/>
                </a:solidFill>
                <a:latin typeface="Calibri"/>
              </a:rPr>
              <a:t>Kanalsanierung Fuldabrück</a:t>
            </a:r>
          </a:p>
        </p:txBody>
      </p:sp>
      <p:sp>
        <p:nvSpPr>
          <p:cNvPr id="14" name="Subtitle"/>
          <p:cNvSpPr txBox="1"/>
          <p:nvPr/>
        </p:nvSpPr>
        <p:spPr>
          <a:xfrm>
            <a:off x="762000" y="3390900"/>
            <a:ext cx="10668000" cy="47625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de-DE" sz="2200" dirty="0">
                <a:solidFill>
                  <a:srgbClr val="4B5563"/>
                </a:solidFill>
                <a:latin typeface="Calibri"/>
              </a:rPr>
              <a:t>Projektstatus für den Lenkungskreis am 15. Oktober 2026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762000" y="6000750"/>
            <a:ext cx="85725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de-DE" sz="1400" dirty="0">
                <a:solidFill>
                  <a:srgbClr val="6B7280"/>
                </a:solidFill>
                <a:latin typeface="Calibri"/>
              </a:rPr>
              <a:t>Ingenieurbüro Fischer · Vermessung und Kanalplanung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Title"/>
          <p:cNvSpPr txBox="1"/>
          <p:nvPr/>
        </p:nvSpPr>
        <p:spPr>
          <a:xfrm>
            <a:off x="762000" y="533400"/>
            <a:ext cx="10668000" cy="66675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de-DE" sz="3200" b="1" dirty="0">
                <a:solidFill>
                  <a:srgbClr val="111827"/>
                </a:solidFill>
                <a:latin typeface="Calibri"/>
              </a:rPr>
              <a:t>Wo wir stehen</a:t>
            </a:r>
          </a:p>
        </p:txBody>
      </p:sp>
      <p:sp>
        <p:nvSpPr>
          <p:cNvPr id="17" name="KPI"/>
          <p:cNvSpPr/>
          <p:nvPr/>
        </p:nvSpPr>
        <p:spPr>
          <a:xfrm>
            <a:off x="762000" y="1866900"/>
            <a:ext cx="3333750" cy="2667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8" name="KPI value"/>
          <p:cNvSpPr txBox="1"/>
          <p:nvPr/>
        </p:nvSpPr>
        <p:spPr>
          <a:xfrm>
            <a:off x="1028700" y="2152650"/>
            <a:ext cx="2857500" cy="952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de-DE" sz="5400" b="1" dirty="0">
                <a:solidFill>
                  <a:srgbClr val="15803D"/>
                </a:solidFill>
                <a:latin typeface="Calibri"/>
              </a:rPr>
              <a:t>38 / 52</a:t>
            </a:r>
          </a:p>
        </p:txBody>
      </p:sp>
      <p:sp>
        <p:nvSpPr>
          <p:cNvPr id="19" name="KPI label"/>
          <p:cNvSpPr txBox="1"/>
          <p:nvPr/>
        </p:nvSpPr>
        <p:spPr>
          <a:xfrm>
            <a:off x="1028700" y="3200400"/>
            <a:ext cx="2857500" cy="104775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de-DE" sz="2000" b="1" dirty="0">
                <a:solidFill>
                  <a:srgbClr val="111827"/>
                </a:solidFill>
                <a:latin typeface="Calibri"/>
              </a:rPr>
              <a:t>Haltungen inspiziert</a:t>
            </a:r>
          </a:p>
          <a:p>
            <a:pPr algn="l">
              <a:buNone/>
              <a:spcBef>
                <a:spcPts val="600"/>
              </a:spcBef>
            </a:pPr>
            <a:r>
              <a:rPr lang="de-DE" sz="1500" dirty="0">
                <a:solidFill>
                  <a:srgbClr val="4B5563"/>
                </a:solidFill>
                <a:latin typeface="Calibri"/>
              </a:rPr>
              <a:t>73 % der Strecke, BA 1 komplett</a:t>
            </a:r>
          </a:p>
        </p:txBody>
      </p:sp>
      <p:sp>
        <p:nvSpPr>
          <p:cNvPr id="20" name="KPI"/>
          <p:cNvSpPr/>
          <p:nvPr/>
        </p:nvSpPr>
        <p:spPr>
          <a:xfrm>
            <a:off x="4429125" y="1866900"/>
            <a:ext cx="3333750" cy="2667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21" name="KPI value"/>
          <p:cNvSpPr txBox="1"/>
          <p:nvPr/>
        </p:nvSpPr>
        <p:spPr>
          <a:xfrm>
            <a:off x="4695825" y="2152650"/>
            <a:ext cx="2857500" cy="952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de-DE" sz="5400" b="1" dirty="0">
                <a:solidFill>
                  <a:srgbClr val="15803D"/>
                </a:solidFill>
                <a:latin typeface="Calibri"/>
              </a:rPr>
              <a:t>11</a:t>
            </a:r>
          </a:p>
        </p:txBody>
      </p:sp>
      <p:sp>
        <p:nvSpPr>
          <p:cNvPr id="22" name="KPI label"/>
          <p:cNvSpPr txBox="1"/>
          <p:nvPr/>
        </p:nvSpPr>
        <p:spPr>
          <a:xfrm>
            <a:off x="4695825" y="3200400"/>
            <a:ext cx="2857500" cy="104775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de-DE" sz="2000" b="1" dirty="0">
                <a:solidFill>
                  <a:srgbClr val="111827"/>
                </a:solidFill>
                <a:latin typeface="Calibri"/>
              </a:rPr>
              <a:t>Schäden Klasse 3–4</a:t>
            </a:r>
          </a:p>
          <a:p>
            <a:pPr algn="l">
              <a:buNone/>
              <a:spcBef>
                <a:spcPts val="600"/>
              </a:spcBef>
            </a:pPr>
            <a:r>
              <a:rPr lang="de-DE" sz="1500" dirty="0">
                <a:solidFill>
                  <a:srgbClr val="4B5563"/>
                </a:solidFill>
                <a:latin typeface="Calibri"/>
              </a:rPr>
              <a:t>davon 3 sofort zu sanieren</a:t>
            </a:r>
          </a:p>
        </p:txBody>
      </p:sp>
      <p:sp>
        <p:nvSpPr>
          <p:cNvPr id="23" name="KPI"/>
          <p:cNvSpPr/>
          <p:nvPr/>
        </p:nvSpPr>
        <p:spPr>
          <a:xfrm>
            <a:off x="8096250" y="1866900"/>
            <a:ext cx="3333750" cy="2667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24" name="KPI value"/>
          <p:cNvSpPr txBox="1"/>
          <p:nvPr/>
        </p:nvSpPr>
        <p:spPr>
          <a:xfrm>
            <a:off x="8362950" y="2152650"/>
            <a:ext cx="2857500" cy="952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de-DE" sz="5400" b="1" dirty="0">
                <a:solidFill>
                  <a:srgbClr val="15803D"/>
                </a:solidFill>
                <a:latin typeface="Calibri"/>
              </a:rPr>
              <a:t>64 %</a:t>
            </a:r>
          </a:p>
        </p:txBody>
      </p:sp>
      <p:sp>
        <p:nvSpPr>
          <p:cNvPr id="25" name="KPI label"/>
          <p:cNvSpPr txBox="1"/>
          <p:nvPr/>
        </p:nvSpPr>
        <p:spPr>
          <a:xfrm>
            <a:off x="8362950" y="3200400"/>
            <a:ext cx="2857500" cy="104775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de-DE" sz="2000" b="1" dirty="0">
                <a:solidFill>
                  <a:srgbClr val="111827"/>
                </a:solidFill>
                <a:latin typeface="Calibri"/>
              </a:rPr>
              <a:t>Budget gebunden</a:t>
            </a:r>
          </a:p>
          <a:p>
            <a:pPr algn="l">
              <a:buNone/>
              <a:spcBef>
                <a:spcPts val="600"/>
              </a:spcBef>
            </a:pPr>
            <a:r>
              <a:rPr lang="de-DE" sz="1500" dirty="0">
                <a:solidFill>
                  <a:srgbClr val="4B5563"/>
                </a:solidFill>
                <a:latin typeface="Calibri"/>
              </a:rPr>
              <a:t>263 T€ von 412 T€</a:t>
            </a:r>
          </a:p>
        </p:txBody>
      </p:sp>
      <p:sp>
        <p:nvSpPr>
          <p:cNvPr id="26" name="Footer"/>
          <p:cNvSpPr txBox="1"/>
          <p:nvPr/>
        </p:nvSpPr>
        <p:spPr>
          <a:xfrm>
            <a:off x="762000" y="6324600"/>
            <a:ext cx="8572500" cy="28575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de-DE" sz="1100" dirty="0">
                <a:solidFill>
                  <a:srgbClr val="6B7280"/>
                </a:solidFill>
                <a:latin typeface="Calibri"/>
              </a:rPr>
              <a:t>Kanalsanierung Fuldabrück · Projektstatus Q3 2026 · 2</a:t>
            </a:r>
          </a:p>
        </p:txBody>
      </p:sp>
      <p:sp>
        <p:nvSpPr>
          <p:cNvPr id="27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5803D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Title"/>
          <p:cNvSpPr txBox="1"/>
          <p:nvPr/>
        </p:nvSpPr>
        <p:spPr>
          <a:xfrm>
            <a:off x="762000" y="533400"/>
            <a:ext cx="10668000" cy="66675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de-DE" sz="3200" b="1" dirty="0">
                <a:solidFill>
                  <a:srgbClr val="111827"/>
                </a:solidFill>
                <a:latin typeface="Calibri"/>
              </a:rPr>
              <a:t>Fortschritt nach Bauabschnitt</a:t>
            </a:r>
          </a:p>
        </p:txBody>
      </p:sp>
      <p:sp>
        <p:nvSpPr>
          <p:cNvPr id="29" name="Shape 29"/>
          <p:cNvSpPr txBox="1"/>
          <p:nvPr/>
        </p:nvSpPr>
        <p:spPr>
          <a:xfrm>
            <a:off x="762000" y="1219200"/>
            <a:ext cx="9525000" cy="3429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de-DE" sz="1600" dirty="0">
                <a:solidFill>
                  <a:srgbClr val="4B5563"/>
                </a:solidFill>
                <a:latin typeface="Calibri"/>
              </a:rPr>
              <a:t>Inspizierte Haltungen je Abschnitt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762000" y="2000250"/>
            <a:ext cx="2857500" cy="4191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de-DE" sz="1800" b="1" dirty="0">
                <a:solidFill>
                  <a:srgbClr val="111827"/>
                </a:solidFill>
                <a:latin typeface="Calibri"/>
              </a:rPr>
              <a:t>BA 1 Lindenstraße</a:t>
            </a:r>
          </a:p>
        </p:txBody>
      </p:sp>
      <p:sp>
        <p:nvSpPr>
          <p:cNvPr id="31" name="Shape 31"/>
          <p:cNvSpPr/>
          <p:nvPr/>
        </p:nvSpPr>
        <p:spPr>
          <a:xfrm>
            <a:off x="3810000" y="2057400"/>
            <a:ext cx="6096000" cy="304800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32" name="Bar"/>
          <p:cNvSpPr/>
          <p:nvPr/>
        </p:nvSpPr>
        <p:spPr>
          <a:xfrm>
            <a:off x="3810000" y="2057400"/>
            <a:ext cx="6096000" cy="30480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</p:sp>
      <p:sp>
        <p:nvSpPr>
          <p:cNvPr id="33" name="Shape 33"/>
          <p:cNvSpPr txBox="1"/>
          <p:nvPr/>
        </p:nvSpPr>
        <p:spPr>
          <a:xfrm>
            <a:off x="10058400" y="2000250"/>
            <a:ext cx="1524000" cy="4191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de-DE" sz="1800" b="1" dirty="0">
                <a:solidFill>
                  <a:srgbClr val="374151"/>
                </a:solidFill>
                <a:latin typeface="Calibri"/>
              </a:rPr>
              <a:t>14 / 14</a:t>
            </a:r>
          </a:p>
        </p:txBody>
      </p:sp>
      <p:sp>
        <p:nvSpPr>
          <p:cNvPr id="34" name="Shape 34"/>
          <p:cNvSpPr txBox="1"/>
          <p:nvPr/>
        </p:nvSpPr>
        <p:spPr>
          <a:xfrm>
            <a:off x="762000" y="2990850"/>
            <a:ext cx="2857500" cy="4191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de-DE" sz="1800" b="1" dirty="0">
                <a:solidFill>
                  <a:srgbClr val="111827"/>
                </a:solidFill>
                <a:latin typeface="Calibri"/>
              </a:rPr>
              <a:t>BA 2 Am Weinberg</a:t>
            </a:r>
          </a:p>
        </p:txBody>
      </p:sp>
      <p:sp>
        <p:nvSpPr>
          <p:cNvPr id="35" name="Shape 35"/>
          <p:cNvSpPr/>
          <p:nvPr/>
        </p:nvSpPr>
        <p:spPr>
          <a:xfrm>
            <a:off x="3810000" y="3048000"/>
            <a:ext cx="6096000" cy="304800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36" name="Bar"/>
          <p:cNvSpPr/>
          <p:nvPr/>
        </p:nvSpPr>
        <p:spPr>
          <a:xfrm>
            <a:off x="3810000" y="3048000"/>
            <a:ext cx="5334000" cy="30480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</p:sp>
      <p:sp>
        <p:nvSpPr>
          <p:cNvPr id="37" name="Shape 37"/>
          <p:cNvSpPr txBox="1"/>
          <p:nvPr/>
        </p:nvSpPr>
        <p:spPr>
          <a:xfrm>
            <a:off x="10058400" y="2990850"/>
            <a:ext cx="1524000" cy="4191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de-DE" sz="1800" b="1" dirty="0">
                <a:solidFill>
                  <a:srgbClr val="374151"/>
                </a:solidFill>
                <a:latin typeface="Calibri"/>
              </a:rPr>
              <a:t>14 / 16</a:t>
            </a:r>
          </a:p>
        </p:txBody>
      </p:sp>
      <p:sp>
        <p:nvSpPr>
          <p:cNvPr id="38" name="Shape 38"/>
          <p:cNvSpPr txBox="1"/>
          <p:nvPr/>
        </p:nvSpPr>
        <p:spPr>
          <a:xfrm>
            <a:off x="762000" y="3981450"/>
            <a:ext cx="2857500" cy="4191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de-DE" sz="1800" b="1" dirty="0">
                <a:solidFill>
                  <a:srgbClr val="111827"/>
                </a:solidFill>
                <a:latin typeface="Calibri"/>
              </a:rPr>
              <a:t>BA 3 Kirchweg</a:t>
            </a:r>
          </a:p>
        </p:txBody>
      </p:sp>
      <p:sp>
        <p:nvSpPr>
          <p:cNvPr id="39" name="Shape 39"/>
          <p:cNvSpPr/>
          <p:nvPr/>
        </p:nvSpPr>
        <p:spPr>
          <a:xfrm>
            <a:off x="3810000" y="4038600"/>
            <a:ext cx="6096000" cy="304800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40" name="Bar"/>
          <p:cNvSpPr/>
          <p:nvPr/>
        </p:nvSpPr>
        <p:spPr>
          <a:xfrm>
            <a:off x="3810000" y="4038600"/>
            <a:ext cx="4066032" cy="30480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</p:sp>
      <p:sp>
        <p:nvSpPr>
          <p:cNvPr id="41" name="Shape 41"/>
          <p:cNvSpPr txBox="1"/>
          <p:nvPr/>
        </p:nvSpPr>
        <p:spPr>
          <a:xfrm>
            <a:off x="10058400" y="3981450"/>
            <a:ext cx="1524000" cy="4191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de-DE" sz="1800" b="1" dirty="0">
                <a:solidFill>
                  <a:srgbClr val="374151"/>
                </a:solidFill>
                <a:latin typeface="Calibri"/>
              </a:rPr>
              <a:t>8 / 12</a:t>
            </a:r>
          </a:p>
        </p:txBody>
      </p:sp>
      <p:sp>
        <p:nvSpPr>
          <p:cNvPr id="42" name="Shape 42"/>
          <p:cNvSpPr txBox="1"/>
          <p:nvPr/>
        </p:nvSpPr>
        <p:spPr>
          <a:xfrm>
            <a:off x="762000" y="4972050"/>
            <a:ext cx="2857500" cy="4191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de-DE" sz="1800" b="1" dirty="0">
                <a:solidFill>
                  <a:srgbClr val="111827"/>
                </a:solidFill>
                <a:latin typeface="Calibri"/>
              </a:rPr>
              <a:t>BA 4 Gewerbegebiet</a:t>
            </a:r>
          </a:p>
        </p:txBody>
      </p:sp>
      <p:sp>
        <p:nvSpPr>
          <p:cNvPr id="43" name="Shape 43"/>
          <p:cNvSpPr/>
          <p:nvPr/>
        </p:nvSpPr>
        <p:spPr>
          <a:xfrm>
            <a:off x="3810000" y="5029200"/>
            <a:ext cx="6096000" cy="304800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44" name="Bar"/>
          <p:cNvSpPr/>
          <p:nvPr/>
        </p:nvSpPr>
        <p:spPr>
          <a:xfrm>
            <a:off x="3810000" y="5029200"/>
            <a:ext cx="1219200" cy="304800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</p:sp>
      <p:sp>
        <p:nvSpPr>
          <p:cNvPr id="45" name="Shape 45"/>
          <p:cNvSpPr txBox="1"/>
          <p:nvPr/>
        </p:nvSpPr>
        <p:spPr>
          <a:xfrm>
            <a:off x="10058400" y="4972050"/>
            <a:ext cx="1524000" cy="4191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>
              <a:buNone/>
            </a:pPr>
            <a:r>
              <a:rPr lang="de-DE" sz="1800" b="1" dirty="0">
                <a:solidFill>
                  <a:srgbClr val="374151"/>
                </a:solidFill>
                <a:latin typeface="Calibri"/>
              </a:rPr>
              <a:t>2 / 10</a:t>
            </a:r>
          </a:p>
        </p:txBody>
      </p:sp>
      <p:sp>
        <p:nvSpPr>
          <p:cNvPr id="46" name="Footer"/>
          <p:cNvSpPr txBox="1"/>
          <p:nvPr/>
        </p:nvSpPr>
        <p:spPr>
          <a:xfrm>
            <a:off x="762000" y="6324600"/>
            <a:ext cx="8572500" cy="28575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de-DE" sz="1100" dirty="0">
                <a:solidFill>
                  <a:srgbClr val="6B7280"/>
                </a:solidFill>
                <a:latin typeface="Calibri"/>
              </a:rPr>
              <a:t>Kanalsanierung Fuldabrück · Projektstatus Q3 2026 · 3</a:t>
            </a:r>
          </a:p>
        </p:txBody>
      </p:sp>
      <p:sp>
        <p:nvSpPr>
          <p:cNvPr id="47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5803D"/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8" name="Title"/>
          <p:cNvSpPr txBox="1"/>
          <p:nvPr/>
        </p:nvSpPr>
        <p:spPr>
          <a:xfrm>
            <a:off x="762000" y="533400"/>
            <a:ext cx="10668000" cy="66675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de-DE" sz="3200" b="1" dirty="0">
                <a:solidFill>
                  <a:srgbClr val="111827"/>
                </a:solidFill>
                <a:latin typeface="Calibri"/>
              </a:rPr>
              <a:t>Schäden nach Klasse</a:t>
            </a:r>
          </a:p>
        </p:txBody>
      </p:sp>
      <p:sp>
        <p:nvSpPr>
          <p:cNvPr id="49" name="Shape 49"/>
          <p:cNvSpPr txBox="1"/>
          <p:nvPr/>
        </p:nvSpPr>
        <p:spPr>
          <a:xfrm>
            <a:off x="762000" y="152400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 marL="342900" indent="-342900">
              <a:buFont typeface="Arial"/>
              <a:buChar char="•"/>
              <a:spcBef>
                <a:spcPts val="1200"/>
              </a:spcBef>
            </a:pPr>
            <a:r>
              <a:rPr lang="de-DE" sz="2200" b="1" dirty="0">
                <a:solidFill>
                  <a:srgbClr val="B91C1C"/>
                </a:solidFill>
                <a:latin typeface="Calibri"/>
              </a:rPr>
              <a:t>Klasse 4 – sofort: </a:t>
            </a:r>
            <a:r>
              <a:rPr lang="de-DE" sz="2200" dirty="0">
                <a:solidFill>
                  <a:srgbClr val="111827"/>
                </a:solidFill>
                <a:latin typeface="Calibri"/>
              </a:rPr>
              <a:t>3 Haltungen, Einbruch und Wurzeleinwuchs</a:t>
            </a:r>
          </a:p>
          <a:p>
            <a:pPr algn="l" marL="342900" indent="-342900">
              <a:buFont typeface="Arial"/>
              <a:buChar char="•"/>
              <a:spcBef>
                <a:spcPts val="1200"/>
              </a:spcBef>
            </a:pPr>
            <a:r>
              <a:rPr lang="de-DE" sz="2200" b="1" dirty="0">
                <a:solidFill>
                  <a:srgbClr val="B45309"/>
                </a:solidFill>
                <a:latin typeface="Calibri"/>
              </a:rPr>
              <a:t>Klasse 3 – kurzfristig: </a:t>
            </a:r>
            <a:r>
              <a:rPr lang="de-DE" sz="2200" dirty="0">
                <a:solidFill>
                  <a:srgbClr val="111827"/>
                </a:solidFill>
                <a:latin typeface="Calibri"/>
              </a:rPr>
              <a:t>8 Haltungen, Risse und Muffenversatz</a:t>
            </a:r>
          </a:p>
          <a:p>
            <a:pPr algn="l" marL="342900" indent="-342900">
              <a:buFont typeface="Arial"/>
              <a:buChar char="•"/>
              <a:spcBef>
                <a:spcPts val="1200"/>
              </a:spcBef>
            </a:pPr>
            <a:r>
              <a:rPr lang="de-DE" sz="2200" b="1" dirty="0">
                <a:solidFill>
                  <a:srgbClr val="15803D"/>
                </a:solidFill>
                <a:latin typeface="Calibri"/>
              </a:rPr>
              <a:t>Klasse 1–2: </a:t>
            </a:r>
            <a:r>
              <a:rPr lang="de-DE" sz="2200" dirty="0">
                <a:solidFill>
                  <a:srgbClr val="111827"/>
                </a:solidFill>
                <a:latin typeface="Calibri"/>
              </a:rPr>
              <a:t>27 Haltungen, beobachten</a:t>
            </a:r>
          </a:p>
          <a:p>
            <a:pPr algn="l" marL="342900" indent="-342900">
              <a:buFont typeface="Arial"/>
              <a:buChar char="–"/>
              <a:spcBef>
                <a:spcPts val="1800"/>
              </a:spcBef>
            </a:pPr>
            <a:r>
              <a:rPr lang="de-DE" sz="1800" dirty="0">
                <a:solidFill>
                  <a:srgbClr val="4B5563"/>
                </a:solidFill>
                <a:latin typeface="Calibri"/>
              </a:rPr>
              <a:t>Haltung S1–S2 hat nur 1,2 % Gefälle: Hydraulik vor dem Inliner prüfen.</a:t>
            </a:r>
          </a:p>
        </p:txBody>
      </p:sp>
      <p:sp>
        <p:nvSpPr>
          <p:cNvPr id="50" name="Donut bg"/>
          <p:cNvSpPr/>
          <p:nvPr/>
        </p:nvSpPr>
        <p:spPr>
          <a:xfrm>
            <a:off x="8001000" y="1619250"/>
            <a:ext cx="3429000" cy="3429000"/>
          </a:xfrm>
          <a:prstGeom prst="ellipse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51" name="Donut"/>
          <p:cNvSpPr/>
          <p:nvPr/>
        </p:nvSpPr>
        <p:spPr>
          <a:xfrm>
            <a:off x="8572500" y="2190750"/>
            <a:ext cx="2286000" cy="228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de-DE" sz="5400" b="1" dirty="0">
                <a:solidFill>
                  <a:srgbClr val="111827"/>
                </a:solidFill>
                <a:latin typeface="Calibri"/>
              </a:rPr>
              <a:t>38</a:t>
            </a:r>
          </a:p>
          <a:p>
            <a:pPr algn="ctr">
              <a:buNone/>
            </a:pPr>
            <a:r>
              <a:rPr lang="de-DE" sz="1400" dirty="0">
                <a:solidFill>
                  <a:srgbClr val="4B5563"/>
                </a:solidFill>
                <a:latin typeface="Calibri"/>
              </a:rPr>
              <a:t>Haltungen bewertet</a:t>
            </a:r>
          </a:p>
        </p:txBody>
      </p:sp>
      <p:sp>
        <p:nvSpPr>
          <p:cNvPr id="52" name="Footer"/>
          <p:cNvSpPr txBox="1"/>
          <p:nvPr/>
        </p:nvSpPr>
        <p:spPr>
          <a:xfrm>
            <a:off x="762000" y="6324600"/>
            <a:ext cx="8572500" cy="28575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de-DE" sz="1100" dirty="0">
                <a:solidFill>
                  <a:srgbClr val="6B7280"/>
                </a:solidFill>
                <a:latin typeface="Calibri"/>
              </a:rPr>
              <a:t>Kanalsanierung Fuldabrück · Projektstatus Q3 2026 · 4</a:t>
            </a:r>
          </a:p>
        </p:txBody>
      </p:sp>
      <p:sp>
        <p:nvSpPr>
          <p:cNvPr id="53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5803D"/>
          </a:solid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4" name="Title"/>
          <p:cNvSpPr txBox="1"/>
          <p:nvPr/>
        </p:nvSpPr>
        <p:spPr>
          <a:xfrm>
            <a:off x="762000" y="533400"/>
            <a:ext cx="10668000" cy="66675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de-DE" sz="3200" b="1" dirty="0">
                <a:solidFill>
                  <a:srgbClr val="111827"/>
                </a:solidFill>
                <a:latin typeface="Calibri"/>
              </a:rPr>
              <a:t>Nächste Schritte</a:t>
            </a:r>
          </a:p>
        </p:txBody>
      </p:sp>
      <p:sp>
        <p:nvSpPr>
          <p:cNvPr id="55" name="Shape 55"/>
          <p:cNvSpPr/>
          <p:nvPr/>
        </p:nvSpPr>
        <p:spPr>
          <a:xfrm>
            <a:off x="762000" y="1619250"/>
            <a:ext cx="609600" cy="609600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de-DE" sz="2400" b="1" dirty="0">
                <a:solidFill>
                  <a:srgbClr val="166534"/>
                </a:solidFill>
                <a:latin typeface="Calibri"/>
              </a:rPr>
              <a:t>1</a:t>
            </a:r>
          </a:p>
        </p:txBody>
      </p:sp>
      <p:sp>
        <p:nvSpPr>
          <p:cNvPr id="56" name="Shape 56"/>
          <p:cNvSpPr txBox="1"/>
          <p:nvPr/>
        </p:nvSpPr>
        <p:spPr>
          <a:xfrm>
            <a:off x="1619250" y="158115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de-DE" sz="2200" b="1" dirty="0">
                <a:solidFill>
                  <a:srgbClr val="111827"/>
                </a:solidFill>
                <a:latin typeface="Calibri"/>
              </a:rPr>
              <a:t>Inliner-Ausschreibung BA 2</a:t>
            </a:r>
          </a:p>
          <a:p>
            <a:pPr algn="l">
              <a:buNone/>
              <a:spcBef>
                <a:spcPts val="400"/>
              </a:spcBef>
            </a:pPr>
            <a:r>
              <a:rPr lang="de-DE" sz="1600" dirty="0">
                <a:solidFill>
                  <a:srgbClr val="4B5563"/>
                </a:solidFill>
                <a:latin typeface="Calibri"/>
              </a:rPr>
              <a:t>Versand bis 31. Oktober · Vergabe im Dezember</a:t>
            </a:r>
          </a:p>
        </p:txBody>
      </p:sp>
      <p:sp>
        <p:nvSpPr>
          <p:cNvPr id="57" name="Shape 57"/>
          <p:cNvSpPr/>
          <p:nvPr/>
        </p:nvSpPr>
        <p:spPr>
          <a:xfrm>
            <a:off x="762000" y="2667000"/>
            <a:ext cx="609600" cy="609600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de-DE" sz="2400" b="1" dirty="0">
                <a:solidFill>
                  <a:srgbClr val="166534"/>
                </a:solidFill>
                <a:latin typeface="Calibri"/>
              </a:rPr>
              <a:t>2</a:t>
            </a:r>
          </a:p>
        </p:txBody>
      </p:sp>
      <p:sp>
        <p:nvSpPr>
          <p:cNvPr id="58" name="Shape 58"/>
          <p:cNvSpPr txBox="1"/>
          <p:nvPr/>
        </p:nvSpPr>
        <p:spPr>
          <a:xfrm>
            <a:off x="1619250" y="26289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de-DE" sz="2200" b="1" dirty="0">
                <a:solidFill>
                  <a:srgbClr val="111827"/>
                </a:solidFill>
                <a:latin typeface="Calibri"/>
              </a:rPr>
              <a:t>Anwohnerinformation Lindenstraße</a:t>
            </a:r>
          </a:p>
          <a:p>
            <a:pPr algn="l">
              <a:buNone/>
              <a:spcBef>
                <a:spcPts val="400"/>
              </a:spcBef>
            </a:pPr>
            <a:r>
              <a:rPr lang="de-DE" sz="1600" dirty="0">
                <a:solidFill>
                  <a:srgbClr val="4B5563"/>
                </a:solidFill>
                <a:latin typeface="Calibri"/>
              </a:rPr>
              <a:t>Postwurf und Infoabend in KW 45</a:t>
            </a:r>
          </a:p>
        </p:txBody>
      </p:sp>
      <p:sp>
        <p:nvSpPr>
          <p:cNvPr id="59" name="Shape 59"/>
          <p:cNvSpPr/>
          <p:nvPr/>
        </p:nvSpPr>
        <p:spPr>
          <a:xfrm>
            <a:off x="762000" y="3714750"/>
            <a:ext cx="609600" cy="609600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de-DE" sz="2400" b="1" dirty="0">
                <a:solidFill>
                  <a:srgbClr val="166534"/>
                </a:solidFill>
                <a:latin typeface="Calibri"/>
              </a:rPr>
              <a:t>3</a:t>
            </a:r>
          </a:p>
        </p:txBody>
      </p:sp>
      <p:sp>
        <p:nvSpPr>
          <p:cNvPr id="60" name="Shape 60"/>
          <p:cNvSpPr txBox="1"/>
          <p:nvPr/>
        </p:nvSpPr>
        <p:spPr>
          <a:xfrm>
            <a:off x="1619250" y="367665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de-DE" sz="2200" b="1" dirty="0">
                <a:solidFill>
                  <a:srgbClr val="111827"/>
                </a:solidFill>
                <a:latin typeface="Calibri"/>
              </a:rPr>
              <a:t>Klasse-4-Schäden sanieren</a:t>
            </a:r>
          </a:p>
          <a:p>
            <a:pPr algn="l">
              <a:buNone/>
              <a:spcBef>
                <a:spcPts val="400"/>
              </a:spcBef>
            </a:pPr>
            <a:r>
              <a:rPr lang="de-DE" sz="1600" dirty="0">
                <a:solidFill>
                  <a:srgbClr val="4B5563"/>
                </a:solidFill>
                <a:latin typeface="Calibri"/>
              </a:rPr>
              <a:t>November bis Dezember, vor dem Frost</a:t>
            </a:r>
          </a:p>
        </p:txBody>
      </p:sp>
      <p:sp>
        <p:nvSpPr>
          <p:cNvPr id="61" name="Shape 61"/>
          <p:cNvSpPr/>
          <p:nvPr/>
        </p:nvSpPr>
        <p:spPr>
          <a:xfrm>
            <a:off x="762000" y="4762500"/>
            <a:ext cx="609600" cy="609600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de-DE" sz="2400" b="1" dirty="0">
                <a:solidFill>
                  <a:srgbClr val="166534"/>
                </a:solidFill>
                <a:latin typeface="Calibri"/>
              </a:rPr>
              <a:t>4</a:t>
            </a:r>
          </a:p>
        </p:txBody>
      </p:sp>
      <p:sp>
        <p:nvSpPr>
          <p:cNvPr id="62" name="Shape 62"/>
          <p:cNvSpPr txBox="1"/>
          <p:nvPr/>
        </p:nvSpPr>
        <p:spPr>
          <a:xfrm>
            <a:off x="1619250" y="47244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de-DE" sz="2200" b="1" dirty="0">
                <a:solidFill>
                  <a:srgbClr val="111827"/>
                </a:solidFill>
                <a:latin typeface="Calibri"/>
              </a:rPr>
              <a:t>Abschlussbefahrung BA 1</a:t>
            </a:r>
          </a:p>
          <a:p>
            <a:pPr algn="l">
              <a:buNone/>
              <a:spcBef>
                <a:spcPts val="400"/>
              </a:spcBef>
            </a:pPr>
            <a:r>
              <a:rPr lang="de-DE" sz="1600" dirty="0">
                <a:solidFill>
                  <a:srgbClr val="4B5563"/>
                </a:solidFill>
                <a:latin typeface="Calibri"/>
              </a:rPr>
              <a:t>15. Dezember mit dem Bauamt</a:t>
            </a:r>
          </a:p>
        </p:txBody>
      </p:sp>
      <p:sp>
        <p:nvSpPr>
          <p:cNvPr id="63" name="Footer"/>
          <p:cNvSpPr txBox="1"/>
          <p:nvPr/>
        </p:nvSpPr>
        <p:spPr>
          <a:xfrm>
            <a:off x="762000" y="6324600"/>
            <a:ext cx="8572500" cy="28575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de-DE" sz="1100" dirty="0">
                <a:solidFill>
                  <a:srgbClr val="6B7280"/>
                </a:solidFill>
                <a:latin typeface="Calibri"/>
              </a:rPr>
              <a:t>Kanalsanierung Fuldabrück · Projektstatus Q3 2026 · 5</a:t>
            </a:r>
          </a:p>
        </p:txBody>
      </p:sp>
      <p:sp>
        <p:nvSpPr>
          <p:cNvPr id="6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5803D"/>
          </a:solid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5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</p:sp>
      <p:sp>
        <p:nvSpPr>
          <p:cNvPr id="66" name="Shape 66"/>
          <p:cNvSpPr txBox="1"/>
          <p:nvPr/>
        </p:nvSpPr>
        <p:spPr>
          <a:xfrm>
            <a:off x="762000" y="2381250"/>
            <a:ext cx="10668000" cy="104775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de-DE" sz="5400" b="1" dirty="0">
                <a:solidFill>
                  <a:srgbClr val="FFFFFF"/>
                </a:solidFill>
                <a:latin typeface="Calibri"/>
              </a:rPr>
              <a:t>Danke. Fragen?</a:t>
            </a:r>
          </a:p>
        </p:txBody>
      </p:sp>
      <p:sp>
        <p:nvSpPr>
          <p:cNvPr id="67" name="Shape 67"/>
          <p:cNvSpPr txBox="1"/>
          <p:nvPr/>
        </p:nvSpPr>
        <p:spPr>
          <a:xfrm>
            <a:off x="762000" y="352425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de-DE" sz="2000" dirty="0">
                <a:solidFill>
                  <a:srgbClr val="BBF7D0"/>
                </a:solidFill>
                <a:latin typeface="Calibri"/>
              </a:rPr>
              <a:t>Ingenieurbüro Fischer · Am Weinberg 12 · 34225 Baunatal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c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5803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6</Slides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Projektstatus Kanalsanierung Fuldabrück</dc:title>
  <dc:creator>F. Fischer</dc:creator>
  <dcterms:modified xsi:type="dcterms:W3CDTF">2026-10-09T16:20:00Z</dcterms:modified>
</cp:coreProperties>
</file>